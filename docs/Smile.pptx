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777240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" y="777240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6600" b="1" i="0">
                <a:solidFill>
                  <a:srgbClr val="FFFFFF"/>
                </a:solidFill>
                <a:latin typeface="Verdana"/>
              </a:rPr>
              <a:t>Smile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D1D5DB"/>
                </a:solidFill>
                <a:latin typeface="Verdana"/>
              </a:rPr>
              <a:t>A standard options market — </a:t>
            </a:r>
            <a:r>
              <a:rPr sz="2200" b="1" i="0">
                <a:solidFill>
                  <a:srgbClr val="93C5FD"/>
                </a:solidFill>
                <a:latin typeface="Verdana"/>
              </a:rPr>
              <a:t>as popular as Robinhood, as decentralized as Polymarket.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CA3AF"/>
                </a:solidFill>
                <a:latin typeface="Verdana"/>
              </a:rPr>
              <a:t>One LP balance quotes an entire option chain. Collateral never leaves the wallet
until a trade matches. Every price, fee, and settlement is verifiable on-chain.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A3AF"/>
                </a:solidFill>
                <a:latin typeface="Verdana"/>
              </a:rPr>
              <a:t>Built on the official  </a:t>
            </a:r>
            <a:r>
              <a:rPr sz="1300" b="1" i="0">
                <a:solidFill>
                  <a:srgbClr val="3B82F6"/>
                </a:solidFill>
                <a:latin typeface="Verdana"/>
              </a:rPr>
              <a:t>1inch Aqua + SwapVM</a:t>
            </a:r>
            <a:r>
              <a:rPr sz="1300" b="0" i="0">
                <a:solidFill>
                  <a:srgbClr val="6B7280"/>
                </a:solidFill>
                <a:latin typeface="Verdana"/>
              </a:rPr>
              <a:t>   ·   </a:t>
            </a:r>
            <a:r>
              <a:rPr sz="1300" b="1" i="0">
                <a:solidFill>
                  <a:srgbClr val="EC4899"/>
                </a:solidFill>
                <a:latin typeface="Verdana"/>
              </a:rPr>
              <a:t>Uniswap v4 Hooks</a:t>
            </a:r>
            <a:r>
              <a:rPr sz="1300" b="0" i="0">
                <a:solidFill>
                  <a:srgbClr val="6B7280"/>
                </a:solidFill>
                <a:latin typeface="Verdana"/>
              </a:rPr>
              <a:t>   ·   </a:t>
            </a:r>
            <a:r>
              <a:rPr sz="1300" b="1" i="0">
                <a:solidFill>
                  <a:srgbClr val="93C5FD"/>
                </a:solidFill>
                <a:latin typeface="Verdana"/>
              </a:rPr>
              <a:t>Chainlink Feeds + CRE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F4444"/>
                </a:solidFill>
                <a:latin typeface="Verdana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On-chain options never found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035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Capital is locked per strike, per expiry — 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an LP quoting 20 strikes must fragment collateral into 20 allocations — most never trade.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Locked collateral earns nothing — 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unlike TradFi option writers, DeFi LPs forfeit staking and lending yield while they wait.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No market makers emerge — 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DOVs (Ribbon, Friktion) trap liquidity in manager-picked strikes; RFQ venues (Premia) depend on off-chain institutions.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Meanwhile, binary options thrive — 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Polymarket proved on-chain demand — but prediction markets can't do covered calls, spreads, or vol strategies.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920240"/>
            <a:ext cx="4663440" cy="35661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CA3AF"/>
                </a:solidFill>
                <a:latin typeface="Verdana"/>
              </a:rPr>
              <a:t>A typical on-chain option chain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280"/>
                </a:solidFill>
                <a:latin typeface="Consolas"/>
              </a:rPr>
              <a:t>$1,400   ——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280"/>
                </a:solidFill>
                <a:latin typeface="Consolas"/>
              </a:rPr>
              <a:t>$1,550   ——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1D5DB"/>
                </a:solidFill>
                <a:latin typeface="Consolas"/>
              </a:rPr>
              <a:t>$1,650   $12k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280"/>
                </a:solidFill>
                <a:latin typeface="Consolas"/>
              </a:rPr>
              <a:t>$1,750   ——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1D5DB"/>
                </a:solidFill>
                <a:latin typeface="Consolas"/>
              </a:rPr>
              <a:t>$1,850   $3k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B7280"/>
                </a:solidFill>
                <a:latin typeface="Consolas"/>
              </a:rPr>
              <a:t>$2,100   ——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F4444"/>
                </a:solidFill>
                <a:latin typeface="Verdana"/>
              </a:rPr>
              <a:t>depth only where someone pre-parked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C55E"/>
                </a:solidFill>
                <a:latin typeface="Verdana"/>
              </a:rPr>
              <a:t>THE INSIGHT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One balance quotes the whole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1D5DB"/>
                </a:solidFill>
                <a:latin typeface="Verdana"/>
              </a:rPr>
              <a:t>1inch Aqua lets liquidity stay in the maker's own wallet and be pulled </a:t>
            </a:r>
            <a:r>
              <a:rPr sz="1500" b="1" i="0">
                <a:solidFill>
                  <a:srgbClr val="FFFFFF"/>
                </a:solidFill>
                <a:latin typeface="Verdana"/>
              </a:rPr>
              <a:t>just-in-time</a:t>
            </a:r>
            <a:r>
              <a:rPr sz="1500" b="0" i="0">
                <a:solidFill>
                  <a:srgbClr val="D1D5DB"/>
                </a:solidFill>
                <a:latin typeface="Verdana"/>
              </a:rPr>
              <a:t> when a trade matches. Smile turns that into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B82F6"/>
                </a:solidFill>
                <a:latin typeface="Consolas"/>
              </a:rPr>
              <a:t>1 · AUTHORIZE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1D5DB"/>
                </a:solidFill>
                <a:latin typeface="Verdana"/>
              </a:rPr>
              <a:t>LP picks a strike RANGE
($2,500 – $3,500 calls, 30d)
and a max collateral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3886200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01568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84FC"/>
                </a:solidFill>
                <a:latin typeface="Consolas"/>
              </a:rPr>
              <a:t>2 · SHIP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1D5DB"/>
                </a:solidFill>
                <a:latin typeface="Verdana"/>
              </a:rPr>
              <a:t>Aqua.ship() records virtual
balances — zero tokens move,
wallet keeps earning yield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07608" y="3886200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54496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3 · QUOTE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1D5DB"/>
                </a:solidFill>
                <a:latin typeface="Verdana"/>
              </a:rPr>
              <a:t>every strike in the range is
live &amp; two-sided — the taker
picks K at swap 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60536" y="3886200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07424" y="27432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C55E"/>
                </a:solidFill>
                <a:latin typeface="Consolas"/>
              </a:rPr>
              <a:t>4 · MATCH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1D5DB"/>
                </a:solidFill>
                <a:latin typeface="Verdana"/>
              </a:rPr>
              <a:t>collateral is pulled JIT into
escrow; premium lands in the
LP wallet — atomically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Verdana"/>
              </a:rPr>
              <a:t>Displayed depth becomes a function of wallet balance — not of how cleverly capital was pre-allocated.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B82F6"/>
                </a:solidFill>
                <a:latin typeface="Verdana"/>
              </a:rPr>
              <a:t>HOW IT'S BUILT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A custom instruction on the official 1inch SwapVM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852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Official contracts, unmodified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1inch/aqua and 1inch/swap-vm are vendored and compiled as-is; on a mainnet fork we reuse the production Aqua deployment.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One custom opcode (33)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optionPremium prices covered options inside the VM; everything else is the official instruction set.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The taker picks the strike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via SwapVM taker args — one shipped strategy backs every strike in the range.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Capacity enforced by Aqua itself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over-buying underflows the maker's virtual balance in the official Aqua.pull(). No parallel accounting.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3AF"/>
                </a:solidFill>
                <a:latin typeface="Verdana"/>
              </a:rPr>
              <a:t>Each LP range is genuine VM bytecode — 5 instructions: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240280"/>
            <a:ext cx="4937760" cy="65836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salt</a:t>
            </a:r>
            <a:r>
              <a:rPr sz="1100" b="0" i="0">
                <a:solidFill>
                  <a:srgbClr val="9CA3AF"/>
                </a:solidFill>
                <a:latin typeface="Verdana"/>
              </a:rPr>
              <a:t>   order-hash uniqueness per range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official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08376"/>
            <a:ext cx="4937760" cy="65836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deadline</a:t>
            </a:r>
            <a:r>
              <a:rPr sz="1100" b="0" i="0">
                <a:solidFill>
                  <a:srgbClr val="9CA3AF"/>
                </a:solidFill>
                <a:latin typeface="Verdana"/>
              </a:rPr>
              <a:t>   VM-level expiry guard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official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776472"/>
            <a:ext cx="4937760" cy="65836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jumpIfTokenIn</a:t>
            </a:r>
            <a:r>
              <a:rPr sz="1100" b="0" i="0">
                <a:solidFill>
                  <a:srgbClr val="9CA3AF"/>
                </a:solidFill>
                <a:latin typeface="Verdana"/>
              </a:rPr>
              <a:t>   sellbacks skip the fee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official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544568"/>
            <a:ext cx="4937760" cy="65836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BF24"/>
                </a:solidFill>
                <a:latin typeface="Consolas"/>
              </a:rPr>
              <a:t>aquaProtocolFee</a:t>
            </a:r>
            <a:r>
              <a:rPr sz="1100" b="0" i="0">
                <a:solidFill>
                  <a:srgbClr val="9CA3AF"/>
                </a:solidFill>
                <a:latin typeface="Verdana"/>
              </a:rPr>
              <a:t>   1% → DAO via Aqua.pull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official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5312664"/>
            <a:ext cx="4937760" cy="65836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B82F6"/>
                </a:solidFill>
                <a:latin typeface="Consolas"/>
              </a:rPr>
              <a:t>optionPremium</a:t>
            </a:r>
            <a:r>
              <a:rPr sz="1100" b="0" i="0">
                <a:solidFill>
                  <a:srgbClr val="9CA3AF"/>
                </a:solidFill>
                <a:latin typeface="Verdana"/>
              </a:rPr>
              <a:t>   vol-surface pricing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B82F6"/>
                </a:solidFill>
                <a:latin typeface="Verdana"/>
              </a:rPr>
              <a:t>custom · opcode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84FC"/>
                </a:solidFill>
                <a:latin typeface="Verdana"/>
              </a:rPr>
              <a:t>PRICING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An on-chain volatility surface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3C5FD"/>
                </a:solidFill>
                <a:latin typeface="Consolas"/>
              </a:rPr>
              <a:t>σ(K,T) = σ_tenor(T) · ( 1 + α·ln²(K/S) + β·ln(K/S) )      P = intrinsic + S·σ·√T·damping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63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B82F6"/>
                </a:solidFill>
                <a:latin typeface="Consolas"/>
              </a:rPr>
              <a:t>TERM STRUCTURE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σ stored per tenor bucket:
0–7d · 7–30d · 30–90d · 90d+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3063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84FC"/>
                </a:solidFill>
                <a:latin typeface="Consolas"/>
              </a:rPr>
              <a:t>SMILE + SKEW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α curves the wings;
signed β tilts puts vs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3063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C55E"/>
                </a:solidFill>
                <a:latin typeface="Consolas"/>
              </a:rPr>
              <a:t>DEMAND FEEDBACK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buys bump the traded bucket +γ;
sellbacks decay it −γ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3063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BF24"/>
                </a:solidFill>
                <a:latin typeface="Consolas"/>
              </a:rPr>
              <a:t>ORACLE SAFETY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Chainlink spot with freshness
bounds baked into each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CA3AF"/>
                </a:solidFill>
                <a:latin typeface="Verdana"/>
              </a:rPr>
              <a:t>The same math runs everywhere: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Verdana"/>
              </a:rPr>
              <a:t>the SwapVM opcode, the quoting facade, and the frontend builder quote identically —
what you see is what vault.buy() charges.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C55E"/>
                </a:solidFill>
                <a:latin typeface="Verdana"/>
              </a:rPr>
              <a:t>THE MARKET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One strategy quotes both sides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C55E"/>
                </a:solidFill>
                <a:latin typeface="Verdana"/>
              </a:rPr>
              <a:t>BUY — forward swap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1D5DB"/>
                </a:solidFill>
                <a:latin typeface="Consolas"/>
              </a:rPr>
              <a:t>premium in  →  collateral out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priced at the ASK (rounds up)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collateral pulled JIT from the LP wallet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premium pushed into the LP wallet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82880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F4444"/>
                </a:solidFill>
                <a:latin typeface="Verdana"/>
              </a:rPr>
              <a:t>SELL BACK — reverse swap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1D5DB"/>
                </a:solidFill>
                <a:latin typeface="Consolas"/>
              </a:rPr>
              <a:t>collateral in  →  premium out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priced at the BID (rounds down) — fee-free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holder is paid a mark-to-market exit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collateral returns → capacity self-restores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The spread is the rounding asymmetry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 — no order book, no separate bid pool.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Buybacks are funded by premiums the LP already earned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 — a bounded, self-financing market-making loop.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Same WETH backs quote after quote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 — a 1-WETH range was bought, sold back, and bought again in our live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BF24"/>
                </a:solidFill>
                <a:latin typeface="Verdana"/>
              </a:rPr>
              <a:t>LIFECYCLE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Ship → trade → settle — verified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B82F6"/>
                </a:solidFill>
                <a:latin typeface="Consolas"/>
              </a:rPr>
              <a:t>SHIP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1D5DB"/>
                </a:solidFill>
                <a:latin typeface="Verdana"/>
              </a:rPr>
              <a:t>LP ships range
to official Aqua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3154680"/>
            <a:ext cx="20116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07208" y="210312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C55E"/>
                </a:solidFill>
                <a:latin typeface="Consolas"/>
              </a:rPr>
              <a:t>BUY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1D5DB"/>
                </a:solidFill>
                <a:latin typeface="Verdana"/>
              </a:rPr>
              <a:t>1 CALL-3000
@ $695.01 ask
(incl. 1% fee)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64608" y="3154680"/>
            <a:ext cx="20116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65776" y="210312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84FC"/>
                </a:solidFill>
                <a:latin typeface="Consolas"/>
              </a:rPr>
              <a:t>SELL BACK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1D5DB"/>
                </a:solidFill>
                <a:latin typeface="Verdana"/>
              </a:rPr>
              <a:t>0.5 back
@ $346.18 bid
capacity restored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3176" y="3154680"/>
            <a:ext cx="20116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24344" y="210312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SETTLE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1D5DB"/>
                </a:solidFill>
                <a:latin typeface="Verdana"/>
              </a:rPr>
              <a:t>anyone supplies the
Chainlink round
@ $3,600 — trustless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81744" y="3154680"/>
            <a:ext cx="20116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82912" y="2103120"/>
            <a:ext cx="205740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97316"/>
                </a:solidFill>
                <a:latin typeface="Consolas"/>
              </a:rPr>
              <a:t>REDEEM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1D5DB"/>
                </a:solidFill>
                <a:latin typeface="Verdana"/>
              </a:rPr>
              <a:t>holder: 0.0833 WETH
LP: exact remainder
escrow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CA3AF"/>
                </a:solidFill>
                <a:latin typeface="Verdana"/>
              </a:rPr>
              <a:t>Numbers above are from a real run against a live node — every transfer is an official Aqua pull/push event.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Verdana"/>
              </a:rPr>
              <a:t>Holder redeemed exactly (S−K)/S per unit · LP reclaimed the rest · zero residue left in escrow.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3C5FD"/>
                </a:solidFill>
                <a:latin typeface="Verdana"/>
              </a:rPr>
              <a:t>TRUST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Settlement without a trusted party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2834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C55E"/>
                </a:solidFill>
                <a:latin typeface="Consolas"/>
              </a:rPr>
              <a:t>PATH A — PERMISSIONLESS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anyone — holder, LP, keeper — supplies the
Chainlink round covering expiry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the contract verifies on-chain that it is the
FIRST round at/after expiry — nobody can
cherry-pick a later, better price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Verdana"/>
              </a:rPr>
              <a:t>liveness reduces to the feed's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828800"/>
            <a:ext cx="5394960" cy="2834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3C5FD"/>
                </a:solidFill>
                <a:latin typeface="Consolas"/>
              </a:rPr>
              <a:t>PATH B — CHAINLINK CRE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a cron-triggered DON workflow reads the
same feed at the last finalized block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consensus price delivered as a DON-signed
report — the scheduled closer if nobody
races to Path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Verdana"/>
              </a:rPr>
              <a:t>a keeper, not a trust assumption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Verdana"/>
              </a:rPr>
              <a:t>Positions are always fully collateralized — covered calls / cash-secured puts.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A3AF"/>
                </a:solidFill>
                <a:latin typeface="Verdana"/>
              </a:rPr>
              <a:t>Mispricing can cost an LP edge, but bad debt is structurally impossible. No margin engine, no liquidations.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BF24"/>
                </a:solidFill>
                <a:latin typeface="Verdana"/>
              </a:rPr>
              <a:t>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Protocol fees through 1inch's own fee opcode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852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1% of every premium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grossed up on top of the Ask — the buyer pays ask + fee, the LP always nets the full premium.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Official plumbing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the fee is pulled to the treasury by the official SwapVM fee instruction via Aqua.pull() — auditable on-chain from day one.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Direction-aware in bytecode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sellbacks jump past the fee instruction — holders are never double-charged.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Immutable per range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LPs see the exact fee at ship time; governance changes touch only new ranges. Hard cap 5%.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7830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3AF"/>
                </a:solidFill>
                <a:latin typeface="Verdana"/>
              </a:rPr>
              <a:t>Fee is on premium, not notional → scales with volatility: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286000"/>
            <a:ext cx="4937760" cy="7132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Conservative  </a:t>
            </a:r>
            <a:r>
              <a:rPr sz="1300" b="0" i="0">
                <a:solidFill>
                  <a:srgbClr val="9CA3AF"/>
                </a:solidFill>
                <a:latin typeface="Consolas"/>
              </a:rPr>
              <a:t>$250k volume    </a:t>
            </a:r>
            <a:r>
              <a:rPr sz="1300" b="1" i="0">
                <a:solidFill>
                  <a:srgbClr val="6B7280"/>
                </a:solidFill>
                <a:latin typeface="Consolas"/>
              </a:rPr>
              <a:t>$2.5k / 90d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127248"/>
            <a:ext cx="4937760" cy="7132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Base          </a:t>
            </a:r>
            <a:r>
              <a:rPr sz="1300" b="0" i="0">
                <a:solidFill>
                  <a:srgbClr val="9CA3AF"/>
                </a:solidFill>
                <a:latin typeface="Consolas"/>
              </a:rPr>
              <a:t>$1.5M volume    </a:t>
            </a:r>
            <a:r>
              <a:rPr sz="1300" b="1" i="0">
                <a:solidFill>
                  <a:srgbClr val="D1D5DB"/>
                </a:solidFill>
                <a:latin typeface="Consolas"/>
              </a:rPr>
              <a:t>$15k / 90d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68496"/>
            <a:ext cx="4937760" cy="7132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Upside        </a:t>
            </a:r>
            <a:r>
              <a:rPr sz="1300" b="0" i="0">
                <a:solidFill>
                  <a:srgbClr val="9CA3AF"/>
                </a:solidFill>
                <a:latin typeface="Consolas"/>
              </a:rPr>
              <a:t>$6M+ volume     </a:t>
            </a:r>
            <a:r>
              <a:rPr sz="1300" b="1" i="0">
                <a:solidFill>
                  <a:srgbClr val="22C55E"/>
                </a:solidFill>
                <a:latin typeface="Consolas"/>
              </a:rPr>
              <a:t>$60k+ / 90d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89204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3C5FD"/>
                </a:solidFill>
                <a:latin typeface="Verdana"/>
              </a:rPr>
              <a:t>Applying to the 1inch DAO Aqua Revenue Stream Incubator — revenue share to the DAO from the first dollar.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84FC"/>
                </a:solidFill>
                <a:latin typeface="Verdana"/>
              </a:rPr>
              <a:t>EMERGENT MARKET MAKERS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On-chain IV you can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B82F6"/>
                </a:solidFill>
                <a:latin typeface="Consolas"/>
              </a:rPr>
              <a:t>σ &lt; market IV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options look cheap
vs consensus vol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54680" y="2816352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01568" y="19659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C55E"/>
                </a:solidFill>
                <a:latin typeface="Consolas"/>
              </a:rPr>
              <a:t>ARB BUYS @ ASK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delta-hedges
on Uniswap spot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07608" y="2816352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54496" y="19659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BF24"/>
                </a:solidFill>
                <a:latin typeface="Consolas"/>
              </a:rPr>
              <a:t>σ RE-RATES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their own demand
bumps the bucket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0536" y="2816352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07424" y="19659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84FC"/>
                </a:solidFill>
                <a:latin typeface="Consolas"/>
              </a:rPr>
              <a:t>SELLS BACK @ BID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profit ≈ Δσ · vega
loop closes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Long vol: 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buy the chain — straddles, strangles, backspreads, across tenors and skew.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Short vol: 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ship a range — LPs harvest the volatility risk premium on self-custodied, fully-collateralized capital.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Why it matters: </a:t>
            </a:r>
            <a:r>
              <a:rPr sz="1400" b="0" i="0">
                <a:solidFill>
                  <a:srgbClr val="D1D5DB"/>
                </a:solidFill>
                <a:latin typeface="Verdana"/>
              </a:rPr>
              <a:t>arbitrage flow is structural volume — it arrives whenever σ diverges, pays the fee on every buy leg,
    and calibrates the surface while doing it. No market-maker BD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C55E"/>
                </a:solidFill>
                <a:latin typeface="Verdana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Built and verified — not a whitepaper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2C55E"/>
                </a:solidFill>
                <a:latin typeface="Verdana"/>
              </a:rPr>
              <a:t>82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Foundry tests,
all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8288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3B82F6"/>
                </a:solidFill>
                <a:latin typeface="Verdana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instructions per strategy —
4 official + 1 custom opcode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8288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C084FC"/>
                </a:solidFill>
                <a:latin typeface="Verdana"/>
              </a:rPr>
              <a:t>20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named strategies in the
OptionStrat-style 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07424" y="1828800"/>
            <a:ext cx="2606040" cy="1645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BBF24"/>
                </a:solidFill>
                <a:latin typeface="Verdana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1D5DB"/>
                </a:solidFill>
                <a:latin typeface="Verdana"/>
              </a:rPr>
              <a:t>escrow residue after full
lifecycle — exact conservation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Full lifecycle demonstrated live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ship → buy → sellback → permissionless settle → redeem/reclaim, on a real node, every transfer an Aqua event.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Frontend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option-chain matrix, LP range flow, and a strategy builder with T+0 curves, breakevens, POP, and net greeks — quoting the same smile the chain charges.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3B82F6"/>
                </a:solidFill>
                <a:latin typeface="Verdana"/>
              </a:rPr>
              <a:t>▸  </a:t>
            </a:r>
            <a:r>
              <a:rPr sz="1350" b="1" i="0">
                <a:solidFill>
                  <a:srgbClr val="FFFFFF"/>
                </a:solidFill>
                <a:latin typeface="Verdana"/>
              </a:rPr>
              <a:t>Grant application drafted — </a:t>
            </a:r>
            <a:r>
              <a:rPr sz="1350" b="0" i="0">
                <a:solidFill>
                  <a:srgbClr val="D1D5DB"/>
                </a:solidFill>
                <a:latin typeface="Verdana"/>
              </a:rPr>
              <a:t>milestone plan mapped to the 1inch DAO incubator, with an audit as the largest budget line before any mainnet LP capital.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B82F6"/>
                </a:solidFill>
                <a:latin typeface="Verdana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Verdana"/>
              </a:rPr>
              <a:t>From verified prototype to funded 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B82F6"/>
                </a:solidFill>
                <a:latin typeface="Consolas"/>
              </a:rPr>
              <a:t>NOW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security review of the ~1.2k
LoC Smile surface (official
contracts untouched)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69080" y="2788920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15968" y="18288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C55E"/>
                </a:solidFill>
                <a:latin typeface="Consolas"/>
              </a:rPr>
              <a:t>NEXT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mainnet on the production
Aqua deployment · first live
LP ranges · fee accrual to DAO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788920"/>
            <a:ext cx="246888" cy="0"/>
          </a:xfrm>
          <a:prstGeom prst="bentConnector3">
            <a:avLst/>
          </a:prstGeom>
          <a:ln w="1905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083296" y="18288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84FC"/>
                </a:solidFill>
                <a:latin typeface="Consolas"/>
              </a:rPr>
              <a:t>THEN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9CA3AF"/>
                </a:solidFill>
                <a:latin typeface="Verdana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D1D5DB"/>
                </a:solidFill>
                <a:latin typeface="Verdana"/>
              </a:rPr>
              <a:t>vol-surface calibration from
realized quotes · maker
aggregation &amp; order-splitting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D1D5DB"/>
                </a:solidFill>
                <a:latin typeface="Verdana"/>
              </a:rPr>
              <a:t>Liquidity in options markets is thin because capital gets locked where nothing trades.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FFFFFF"/>
                </a:solidFill>
                <a:latin typeface="Verdana"/>
              </a:rPr>
              <a:t>Smile makes depth a property of wallets, not allocations.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B82F6"/>
                </a:solidFill>
                <a:latin typeface="Consolas"/>
              </a:rPr>
              <a:t>github.com/oslinin/Smile</a:t>
            </a:r>
            <a:r>
              <a:rPr sz="1400" b="0" i="0">
                <a:solidFill>
                  <a:srgbClr val="6B7280"/>
                </a:solidFill>
                <a:latin typeface="Verdana"/>
              </a:rPr>
              <a:t>     ·     </a:t>
            </a:r>
            <a:r>
              <a:rPr sz="1400" b="1" i="0">
                <a:solidFill>
                  <a:srgbClr val="3B82F6"/>
                </a:solidFill>
                <a:latin typeface="Consolas"/>
              </a:rPr>
              <a:t>oslinin.github.io/Smile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Smile — non-custodial options on 1inch Aqua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Verdana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